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BB243-BF0C-AC6B-F7CB-1F7CBCE02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6F30C-24CB-862D-9B83-2985BB66C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D41DA-FA50-1C54-88CB-A7F6AEB7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C8DC-5064-4E45-B302-C2241B669D7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D4E8C-17BC-8AB3-1DF8-F06B1113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FFF9D-FB22-9D10-76EC-0D8ED1486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BC19-74F1-4D48-B3E6-CB20B2D6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7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BB008-333A-A371-C197-FF52A6DF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23B66-3F5F-060B-7009-2D7B28F82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9B977-B47B-4041-8AF4-EA6541E4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C8DC-5064-4E45-B302-C2241B669D7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F4CB4-D60D-B39B-AAF2-08F60E84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831BB-B36C-3EDD-D90A-1BDB9CEC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BC19-74F1-4D48-B3E6-CB20B2D6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5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0952-C7B8-72CF-4C1D-96D4DAC13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9DB0F-405F-AFE3-662E-862F02B1B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7C228-FEBB-A289-B16D-5E4B1319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C8DC-5064-4E45-B302-C2241B669D7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6C0D2-677B-391B-6375-3C05B2B88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4B3CA-957D-1DAF-3D7E-207F86ABB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BC19-74F1-4D48-B3E6-CB20B2D6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4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37FA1-10AC-752A-E3FF-840AAE5F6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987F6-A826-4E5C-ACDC-09233A4C5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28373-8222-8620-4572-20B51F90B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DF45F-219F-E778-3B49-CE0DDC92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C8DC-5064-4E45-B302-C2241B669D7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77817-B54F-8F76-59B1-D27013C53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B7479-D041-F1DA-91FD-EF11222A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BC19-74F1-4D48-B3E6-CB20B2D6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8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7DE25-9ADD-327F-81AC-D9D55B29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CEED9-9FA0-DFC0-E5CF-27946F409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DCF7D-7E8E-5422-80E7-099C74C40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BD80A7-B5BB-7EE9-CEDF-30D78EBA6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07E367-B99C-CEB8-0207-6E9513725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29D739-68C0-42C5-5373-24B55639C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C8DC-5064-4E45-B302-C2241B669D7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C3D03C-7B1B-5319-ED49-FF4E2FAFC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374A45-C474-2130-6E4D-F56F9FE3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BC19-74F1-4D48-B3E6-CB20B2D6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573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0857-AEED-E95D-E372-2C04800D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3F929-2855-23F0-4C0F-3EBEF2B5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C8DC-5064-4E45-B302-C2241B669D7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7E8391-CB21-40E0-AB28-829A28F06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B99C9-BF6C-684D-287A-59729A3A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BC19-74F1-4D48-B3E6-CB20B2D6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77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8A47F-25C3-F4E9-10D6-5DF54DB8A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C8DC-5064-4E45-B302-C2241B669D7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5915F-1A6C-1D85-B2BA-4A57FA61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C4499-EEAE-3A2F-00B6-7567946C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BC19-74F1-4D48-B3E6-CB20B2D6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2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C0A8-8099-9931-47F5-2FE9DB6DE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CF349-C7E9-1B14-7417-381934D9C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B7952-4054-B4B6-C101-10E6ACACB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2A949-F680-30C5-23CF-66506120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C8DC-5064-4E45-B302-C2241B669D7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92643-6E8C-AA0D-6EFC-A9A27BAD7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27817-7357-6D7E-262F-5E8E6BA4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BC19-74F1-4D48-B3E6-CB20B2D6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31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273C-BFDB-A9C1-C26F-0F02641A6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E7AEAB-14B9-0BA4-0DBA-646DB29A0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DB6357-A4E2-80CF-B02C-0933BB6EB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FCA70-745C-AC38-CA05-22CFC2660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C8DC-5064-4E45-B302-C2241B669D7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09469-7770-727B-4AD8-B6D23CBE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84FF7-42AC-EB49-B27D-E5BF068CB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BC19-74F1-4D48-B3E6-CB20B2D6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61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49587-5EC8-93DD-5A5D-07C6409D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C43F2-70B8-9119-D896-09F9B5331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0F1B7-D29E-C1C5-C57F-2EC53C46B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C8DC-5064-4E45-B302-C2241B669D7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26AA8-8D0F-8DF9-043C-E66FCC0C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F7207-40DA-5487-B281-49EB6194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BC19-74F1-4D48-B3E6-CB20B2D6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34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D8E4A5-9D67-C15A-39EE-10F03AD2F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E863E-1D6A-D6A2-CD77-0CB8FACC6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4239C-CA4E-C367-5363-7927911A0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C8DC-5064-4E45-B302-C2241B669D7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7AC8F-9A3A-DD2B-A713-12EF4795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86E0B-89D5-938F-9008-30CCAE22B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BC19-74F1-4D48-B3E6-CB20B2D6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3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E3770C-6A52-9E33-FBF0-DCD9BEE19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75DC0-8CFA-553E-2998-A118448FC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1F334-2035-751E-96ED-E87AE7DCF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E5C8DC-5064-4E45-B302-C2241B669D7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6E1E3-EDAD-E8F6-7AD5-083513060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958C0-CFE6-DE7D-2FFB-7EDC0139B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5BBC19-74F1-4D48-B3E6-CB20B2D6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3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9FCEED-80A8-5656-F9BF-FBF1F89FEA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B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80EB3FE-3F6C-9A7A-8BA3-1F5615AF2EA1}"/>
              </a:ext>
            </a:extLst>
          </p:cNvPr>
          <p:cNvSpPr/>
          <p:nvPr/>
        </p:nvSpPr>
        <p:spPr>
          <a:xfrm>
            <a:off x="-762000" y="-508000"/>
            <a:ext cx="3556000" cy="3556000"/>
          </a:xfrm>
          <a:prstGeom prst="ellipse">
            <a:avLst/>
          </a:prstGeom>
          <a:solidFill>
            <a:srgbClr val="81C784">
              <a:alpha val="14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12265A-E6F4-525C-CA76-6FD558400994}"/>
              </a:ext>
            </a:extLst>
          </p:cNvPr>
          <p:cNvSpPr/>
          <p:nvPr/>
        </p:nvSpPr>
        <p:spPr>
          <a:xfrm>
            <a:off x="9144000" y="4064000"/>
            <a:ext cx="4064000" cy="4064000"/>
          </a:xfrm>
          <a:prstGeom prst="ellipse">
            <a:avLst/>
          </a:prstGeom>
          <a:solidFill>
            <a:srgbClr val="A8DCA8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E45899-0C56-721E-34C6-47B3745AB053}"/>
              </a:ext>
            </a:extLst>
          </p:cNvPr>
          <p:cNvSpPr/>
          <p:nvPr/>
        </p:nvSpPr>
        <p:spPr>
          <a:xfrm>
            <a:off x="9906000" y="508000"/>
            <a:ext cx="1778000" cy="1778000"/>
          </a:xfrm>
          <a:prstGeom prst="ellipse">
            <a:avLst/>
          </a:prstGeom>
          <a:solidFill>
            <a:srgbClr val="E6F4EA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BDFA9D-3B87-1578-EA06-3F9C6D3DD792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E61598-AC9F-FDAE-74ED-96AB5C932D76}"/>
              </a:ext>
            </a:extLst>
          </p:cNvPr>
          <p:cNvSpPr/>
          <p:nvPr/>
        </p:nvSpPr>
        <p:spPr>
          <a:xfrm>
            <a:off x="0" y="558800"/>
            <a:ext cx="12192000" cy="12700"/>
          </a:xfrm>
          <a:prstGeom prst="rect">
            <a:avLst/>
          </a:prstGeom>
          <a:solidFill>
            <a:srgbClr val="E8EC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27DD20B-1A8A-E58E-16F8-941F8435C8F1}"/>
              </a:ext>
            </a:extLst>
          </p:cNvPr>
          <p:cNvSpPr/>
          <p:nvPr/>
        </p:nvSpPr>
        <p:spPr>
          <a:xfrm>
            <a:off x="355600" y="203200"/>
            <a:ext cx="152400" cy="1524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F787CC-AEE4-739D-7E1F-6CAB078FC69B}"/>
              </a:ext>
            </a:extLst>
          </p:cNvPr>
          <p:cNvSpPr txBox="1"/>
          <p:nvPr/>
        </p:nvSpPr>
        <p:spPr>
          <a:xfrm>
            <a:off x="609600" y="177800"/>
            <a:ext cx="279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1A1F1A"/>
                </a:solidFill>
                <a:latin typeface="Segoe UI" panose="020B0502040204020203" pitchFamily="34" charset="0"/>
              </a:rPr>
              <a:t>FPO Integrated 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923ADC-C6FC-B9CA-B0A0-66271B8B9224}"/>
              </a:ext>
            </a:extLst>
          </p:cNvPr>
          <p:cNvSpPr txBox="1"/>
          <p:nvPr/>
        </p:nvSpPr>
        <p:spPr>
          <a:xfrm>
            <a:off x="2133600" y="203200"/>
            <a:ext cx="3048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8A928A"/>
                </a:solidFill>
                <a:latin typeface="Segoe UI" panose="020B0502040204020203" pitchFamily="34" charset="0"/>
              </a:rPr>
              <a:t>POWERED BY FINDABILITY SCIENCES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1BE8EF-2D51-C929-A0FC-960340281DE6}"/>
              </a:ext>
            </a:extLst>
          </p:cNvPr>
          <p:cNvSpPr/>
          <p:nvPr/>
        </p:nvSpPr>
        <p:spPr>
          <a:xfrm>
            <a:off x="1524000" y="1397000"/>
            <a:ext cx="9144000" cy="431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0EB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FB94384-E361-6025-56FE-63762AE461ED}"/>
              </a:ext>
            </a:extLst>
          </p:cNvPr>
          <p:cNvSpPr/>
          <p:nvPr/>
        </p:nvSpPr>
        <p:spPr>
          <a:xfrm>
            <a:off x="2133600" y="19558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12700">
            <a:solidFill>
              <a:srgbClr val="A8DC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49FB3E-F712-98D5-8A91-739051BB83A2}"/>
              </a:ext>
            </a:extLst>
          </p:cNvPr>
          <p:cNvSpPr/>
          <p:nvPr/>
        </p:nvSpPr>
        <p:spPr>
          <a:xfrm>
            <a:off x="2286000" y="2070100"/>
            <a:ext cx="101600" cy="1016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5AF6F-BBAB-3A6E-82BF-46CC92792510}"/>
              </a:ext>
            </a:extLst>
          </p:cNvPr>
          <p:cNvSpPr txBox="1"/>
          <p:nvPr/>
        </p:nvSpPr>
        <p:spPr>
          <a:xfrm>
            <a:off x="2463800" y="2051651"/>
            <a:ext cx="215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B5E20"/>
                </a:solidFill>
                <a:latin typeface="Segoe UI" panose="020B0502040204020203" pitchFamily="34" charset="0"/>
              </a:rPr>
              <a:t>FPO INTEGRATED 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B67493-1AAF-F363-2F48-264BB4534F46}"/>
              </a:ext>
            </a:extLst>
          </p:cNvPr>
          <p:cNvSpPr txBox="1"/>
          <p:nvPr/>
        </p:nvSpPr>
        <p:spPr>
          <a:xfrm>
            <a:off x="2133600" y="2514600"/>
            <a:ext cx="79248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000" b="1">
                <a:solidFill>
                  <a:srgbClr val="1A1F1A"/>
                </a:solidFill>
                <a:latin typeface="Segoe UI" panose="020B0502040204020203" pitchFamily="34" charset="0"/>
              </a:rPr>
              <a:t>Agent-led operating system for FPOs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07E226-7832-5740-FD28-C093AB894CC1}"/>
              </a:ext>
            </a:extLst>
          </p:cNvPr>
          <p:cNvSpPr txBox="1"/>
          <p:nvPr/>
        </p:nvSpPr>
        <p:spPr>
          <a:xfrm>
            <a:off x="2133600" y="3530600"/>
            <a:ext cx="79248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4A524A"/>
                </a:solidFill>
                <a:latin typeface="Segoe UI" panose="020B0502040204020203" pitchFamily="34" charset="0"/>
              </a:rPr>
              <a:t>A walkthrough of the unified platform for registry, fulfillment, market execution, communication, approvals, and carbon readiness.</a:t>
            </a:r>
          </a:p>
        </p:txBody>
      </p:sp>
    </p:spTree>
    <p:extLst>
      <p:ext uri="{BB962C8B-B14F-4D97-AF65-F5344CB8AC3E}">
        <p14:creationId xmlns:p14="http://schemas.microsoft.com/office/powerpoint/2010/main" val="3067627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1570"/>
    </mc:Choice>
    <mc:Fallback>
      <p:transition advClick="0" advTm="1157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C52043-49C0-5397-CEF1-C6B0E35D9E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B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F7FC63-4E08-876B-7A84-4D0654E39C27}"/>
              </a:ext>
            </a:extLst>
          </p:cNvPr>
          <p:cNvSpPr/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CCE1E-20B7-4752-2AB9-9AEABC4886F2}"/>
              </a:ext>
            </a:extLst>
          </p:cNvPr>
          <p:cNvSpPr/>
          <p:nvPr/>
        </p:nvSpPr>
        <p:spPr>
          <a:xfrm>
            <a:off x="0" y="5638800"/>
            <a:ext cx="12192000" cy="12700"/>
          </a:xfrm>
          <a:prstGeom prst="rect">
            <a:avLst/>
          </a:prstGeom>
          <a:solidFill>
            <a:srgbClr val="E8EC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24A72E-8DF6-6A31-E69A-AF00A495456C}"/>
              </a:ext>
            </a:extLst>
          </p:cNvPr>
          <p:cNvSpPr/>
          <p:nvPr/>
        </p:nvSpPr>
        <p:spPr>
          <a:xfrm>
            <a:off x="457200" y="5918200"/>
            <a:ext cx="38100" cy="6604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61349-E01F-63B7-244A-A7DB843E7E0E}"/>
              </a:ext>
            </a:extLst>
          </p:cNvPr>
          <p:cNvSpPr txBox="1"/>
          <p:nvPr/>
        </p:nvSpPr>
        <p:spPr>
          <a:xfrm>
            <a:off x="635000" y="58928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B5E20"/>
                </a:solidFill>
                <a:latin typeface="Segoe UI" panose="020B0502040204020203" pitchFamily="34" charset="0"/>
              </a:rPr>
              <a:t>ENTRY POINT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CBAD0C-BCB6-89F5-B317-D03F2533E67C}"/>
              </a:ext>
            </a:extLst>
          </p:cNvPr>
          <p:cNvSpPr txBox="1"/>
          <p:nvPr/>
        </p:nvSpPr>
        <p:spPr>
          <a:xfrm>
            <a:off x="635000" y="6096000"/>
            <a:ext cx="736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1A1F1A"/>
                </a:solidFill>
                <a:latin typeface="Segoe UI" panose="020B0502040204020203" pitchFamily="34" charset="0"/>
              </a:rPr>
              <a:t>Five agents. One command center.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D53724-B359-BAF2-362D-78965AEA99C8}"/>
              </a:ext>
            </a:extLst>
          </p:cNvPr>
          <p:cNvSpPr txBox="1"/>
          <p:nvPr/>
        </p:nvSpPr>
        <p:spPr>
          <a:xfrm>
            <a:off x="635000" y="6451600"/>
            <a:ext cx="1117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4A524A"/>
                </a:solidFill>
                <a:latin typeface="Segoe UI" panose="020B0502040204020203" pitchFamily="34" charset="0"/>
              </a:rPr>
              <a:t>The demo opens with a clear operating promise: specialist agents coordinate work while the FPO office steps in only where judgement is needed.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E8CA80-D783-6A61-290B-0C9F23765A88}"/>
              </a:ext>
            </a:extLst>
          </p:cNvPr>
          <p:cNvSpPr/>
          <p:nvPr/>
        </p:nvSpPr>
        <p:spPr>
          <a:xfrm>
            <a:off x="2042160" y="381000"/>
            <a:ext cx="8209280" cy="5130800"/>
          </a:xfrm>
          <a:prstGeom prst="roundRect">
            <a:avLst>
              <a:gd name="adj" fmla="val 3000"/>
            </a:avLst>
          </a:prstGeom>
          <a:solidFill>
            <a:srgbClr val="E0EBE0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30E06C-2C90-4A48-8796-C161C11096EA}"/>
              </a:ext>
            </a:extLst>
          </p:cNvPr>
          <p:cNvSpPr/>
          <p:nvPr/>
        </p:nvSpPr>
        <p:spPr>
          <a:xfrm>
            <a:off x="1915160" y="228600"/>
            <a:ext cx="8361680" cy="528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B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BB3423-224F-693C-A9D7-388DD5D1DB6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60" y="304800"/>
            <a:ext cx="820928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96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1690"/>
    </mc:Choice>
    <mc:Fallback>
      <p:transition advClick="0" advTm="1169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4852AF-288C-BFA7-A88A-D6153A8A52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B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B45633-422E-F4B2-0B87-A5F2DC94BBDD}"/>
              </a:ext>
            </a:extLst>
          </p:cNvPr>
          <p:cNvSpPr/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3E4231-14A3-DE00-2A2B-EDC09EB6B918}"/>
              </a:ext>
            </a:extLst>
          </p:cNvPr>
          <p:cNvSpPr/>
          <p:nvPr/>
        </p:nvSpPr>
        <p:spPr>
          <a:xfrm>
            <a:off x="0" y="5638800"/>
            <a:ext cx="12192000" cy="12700"/>
          </a:xfrm>
          <a:prstGeom prst="rect">
            <a:avLst/>
          </a:prstGeom>
          <a:solidFill>
            <a:srgbClr val="E8EC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729B1D-63DD-0B6B-0D6D-76AAC594A34C}"/>
              </a:ext>
            </a:extLst>
          </p:cNvPr>
          <p:cNvSpPr/>
          <p:nvPr/>
        </p:nvSpPr>
        <p:spPr>
          <a:xfrm>
            <a:off x="457200" y="5918200"/>
            <a:ext cx="38100" cy="6604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CD7E9-DF84-4C7F-685E-24D7FFF1E8EF}"/>
              </a:ext>
            </a:extLst>
          </p:cNvPr>
          <p:cNvSpPr txBox="1"/>
          <p:nvPr/>
        </p:nvSpPr>
        <p:spPr>
          <a:xfrm>
            <a:off x="635000" y="58928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B5E20"/>
                </a:solidFill>
                <a:latin typeface="Segoe UI" panose="020B0502040204020203" pitchFamily="34" charset="0"/>
              </a:rPr>
              <a:t>COMMAND CENTER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278DE-3B9E-F9C3-8743-D82911213614}"/>
              </a:ext>
            </a:extLst>
          </p:cNvPr>
          <p:cNvSpPr txBox="1"/>
          <p:nvPr/>
        </p:nvSpPr>
        <p:spPr>
          <a:xfrm>
            <a:off x="635000" y="6096000"/>
            <a:ext cx="736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1A1F1A"/>
                </a:solidFill>
                <a:latin typeface="Segoe UI" panose="020B0502040204020203" pitchFamily="34" charset="0"/>
              </a:rPr>
              <a:t>One operating surface for the autonomous 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6B5E0-027B-9A8B-C1D9-ABDC93E9FBDE}"/>
              </a:ext>
            </a:extLst>
          </p:cNvPr>
          <p:cNvSpPr txBox="1"/>
          <p:nvPr/>
        </p:nvSpPr>
        <p:spPr>
          <a:xfrm>
            <a:off x="635000" y="6451600"/>
            <a:ext cx="1117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4A524A"/>
                </a:solidFill>
                <a:latin typeface="Segoe UI" panose="020B0502040204020203" pitchFamily="34" charset="0"/>
              </a:rPr>
              <a:t>Managers can see active queues, recent agent runs, work done automatically, and the exact items that still need people.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1A302C-C316-F95F-BB9E-C28060C95BCD}"/>
              </a:ext>
            </a:extLst>
          </p:cNvPr>
          <p:cNvSpPr/>
          <p:nvPr/>
        </p:nvSpPr>
        <p:spPr>
          <a:xfrm>
            <a:off x="2042160" y="381000"/>
            <a:ext cx="8209280" cy="5130800"/>
          </a:xfrm>
          <a:prstGeom prst="roundRect">
            <a:avLst>
              <a:gd name="adj" fmla="val 3000"/>
            </a:avLst>
          </a:prstGeom>
          <a:solidFill>
            <a:srgbClr val="E0EBE0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8741EB-2BE8-0ABC-D7FC-CBC9D6D44598}"/>
              </a:ext>
            </a:extLst>
          </p:cNvPr>
          <p:cNvSpPr/>
          <p:nvPr/>
        </p:nvSpPr>
        <p:spPr>
          <a:xfrm>
            <a:off x="1915160" y="228600"/>
            <a:ext cx="8361680" cy="528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B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453390-B96B-103C-AC88-0B7618A4AD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60" y="304800"/>
            <a:ext cx="820928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50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2100"/>
    </mc:Choice>
    <mc:Fallback>
      <p:transition advClick="0" advTm="121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0855F9-867E-0E73-5E29-FD4E0A7C26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B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C1B220-12C1-9EED-108A-F76668B56488}"/>
              </a:ext>
            </a:extLst>
          </p:cNvPr>
          <p:cNvSpPr/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0E476F-7F38-3F79-D0A4-CD9C226114FE}"/>
              </a:ext>
            </a:extLst>
          </p:cNvPr>
          <p:cNvSpPr/>
          <p:nvPr/>
        </p:nvSpPr>
        <p:spPr>
          <a:xfrm>
            <a:off x="0" y="5638800"/>
            <a:ext cx="12192000" cy="12700"/>
          </a:xfrm>
          <a:prstGeom prst="rect">
            <a:avLst/>
          </a:prstGeom>
          <a:solidFill>
            <a:srgbClr val="E8EC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E5C2A4-7551-2677-0194-9564B017FE4C}"/>
              </a:ext>
            </a:extLst>
          </p:cNvPr>
          <p:cNvSpPr/>
          <p:nvPr/>
        </p:nvSpPr>
        <p:spPr>
          <a:xfrm>
            <a:off x="457200" y="5918200"/>
            <a:ext cx="38100" cy="6604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C6A9E-0B64-3FB8-8B87-25AA0B1C053B}"/>
              </a:ext>
            </a:extLst>
          </p:cNvPr>
          <p:cNvSpPr txBox="1"/>
          <p:nvPr/>
        </p:nvSpPr>
        <p:spPr>
          <a:xfrm>
            <a:off x="635000" y="58928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B5E20"/>
                </a:solidFill>
                <a:latin typeface="Segoe UI" panose="020B0502040204020203" pitchFamily="34" charset="0"/>
              </a:rPr>
              <a:t>FLOW WALKTHROUGH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0FFA0-B43F-EA28-517C-E4BD0FC59642}"/>
              </a:ext>
            </a:extLst>
          </p:cNvPr>
          <p:cNvSpPr txBox="1"/>
          <p:nvPr/>
        </p:nvSpPr>
        <p:spPr>
          <a:xfrm>
            <a:off x="635000" y="6096000"/>
            <a:ext cx="736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1A1F1A"/>
                </a:solidFill>
                <a:latin typeface="Segoe UI" panose="020B0502040204020203" pitchFamily="34" charset="0"/>
              </a:rPr>
              <a:t>Message-to-execution through specialist agents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162EB-C9E2-38CD-48EA-CF7FE5C3F771}"/>
              </a:ext>
            </a:extLst>
          </p:cNvPr>
          <p:cNvSpPr txBox="1"/>
          <p:nvPr/>
        </p:nvSpPr>
        <p:spPr>
          <a:xfrm>
            <a:off x="635000" y="6451600"/>
            <a:ext cx="1117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4A524A"/>
                </a:solidFill>
                <a:latin typeface="Segoe UI" panose="020B0502040204020203" pitchFamily="34" charset="0"/>
              </a:rPr>
              <a:t>Farmer intake routes the signal, fulfillment and crop-cycle agents act on it, and market or staff only enter when confidence or policy requires it.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98ED1A-F412-5580-8823-D181050655CD}"/>
              </a:ext>
            </a:extLst>
          </p:cNvPr>
          <p:cNvSpPr/>
          <p:nvPr/>
        </p:nvSpPr>
        <p:spPr>
          <a:xfrm>
            <a:off x="2042160" y="381000"/>
            <a:ext cx="8209280" cy="5130800"/>
          </a:xfrm>
          <a:prstGeom prst="roundRect">
            <a:avLst>
              <a:gd name="adj" fmla="val 3000"/>
            </a:avLst>
          </a:prstGeom>
          <a:solidFill>
            <a:srgbClr val="E0EBE0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CDF7EB-5CB9-46B6-3F3A-87E361C91D21}"/>
              </a:ext>
            </a:extLst>
          </p:cNvPr>
          <p:cNvSpPr/>
          <p:nvPr/>
        </p:nvSpPr>
        <p:spPr>
          <a:xfrm>
            <a:off x="1915160" y="228600"/>
            <a:ext cx="8361680" cy="528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B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ECC3CE-7083-40EB-EBBE-B513DEE722B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60" y="304800"/>
            <a:ext cx="820928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90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3590"/>
    </mc:Choice>
    <mc:Fallback>
      <p:transition advClick="0" advTm="1359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3E2E4E-10D6-2EC4-1C57-8D196BD522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B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DD02FC-F8FC-DDE6-3BDE-E4FFED05A3E5}"/>
              </a:ext>
            </a:extLst>
          </p:cNvPr>
          <p:cNvSpPr/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08C0A1-E4BE-6465-2A8D-E72EC8FC1BFE}"/>
              </a:ext>
            </a:extLst>
          </p:cNvPr>
          <p:cNvSpPr/>
          <p:nvPr/>
        </p:nvSpPr>
        <p:spPr>
          <a:xfrm>
            <a:off x="0" y="5638800"/>
            <a:ext cx="12192000" cy="12700"/>
          </a:xfrm>
          <a:prstGeom prst="rect">
            <a:avLst/>
          </a:prstGeom>
          <a:solidFill>
            <a:srgbClr val="E8EC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4463BE-6564-9266-8D13-AED8359F4B45}"/>
              </a:ext>
            </a:extLst>
          </p:cNvPr>
          <p:cNvSpPr/>
          <p:nvPr/>
        </p:nvSpPr>
        <p:spPr>
          <a:xfrm>
            <a:off x="457200" y="5918200"/>
            <a:ext cx="38100" cy="6604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DA73E-8CA3-E9B7-770B-989C09D6ADEC}"/>
              </a:ext>
            </a:extLst>
          </p:cNvPr>
          <p:cNvSpPr txBox="1"/>
          <p:nvPr/>
        </p:nvSpPr>
        <p:spPr>
          <a:xfrm>
            <a:off x="635000" y="58928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B5E20"/>
                </a:solidFill>
                <a:latin typeface="Segoe UI" panose="020B0502040204020203" pitchFamily="34" charset="0"/>
              </a:rPr>
              <a:t>FARMER NETWORK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06C9F-B8B2-6144-A4EB-F16ED8459DAA}"/>
              </a:ext>
            </a:extLst>
          </p:cNvPr>
          <p:cNvSpPr txBox="1"/>
          <p:nvPr/>
        </p:nvSpPr>
        <p:spPr>
          <a:xfrm>
            <a:off x="635000" y="6096000"/>
            <a:ext cx="736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1A1F1A"/>
                </a:solidFill>
                <a:latin typeface="Segoe UI" panose="020B0502040204020203" pitchFamily="34" charset="0"/>
              </a:rPr>
              <a:t>One source of truth for members, plots, and seasons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FA372-87CB-41E2-1AF9-E97FC43B9710}"/>
              </a:ext>
            </a:extLst>
          </p:cNvPr>
          <p:cNvSpPr txBox="1"/>
          <p:nvPr/>
        </p:nvSpPr>
        <p:spPr>
          <a:xfrm>
            <a:off x="635000" y="6451600"/>
            <a:ext cx="1117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4A524A"/>
                </a:solidFill>
                <a:latin typeface="Segoe UI" panose="020B0502040204020203" pitchFamily="34" charset="0"/>
              </a:rPr>
              <a:t>The registry keeps FPOs, farmers, geographies, communication profiles, and plot-season records connected in the same operating spine.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B801CF-A2E4-297E-16DE-A96A816FE8D8}"/>
              </a:ext>
            </a:extLst>
          </p:cNvPr>
          <p:cNvSpPr/>
          <p:nvPr/>
        </p:nvSpPr>
        <p:spPr>
          <a:xfrm>
            <a:off x="2042160" y="381000"/>
            <a:ext cx="8209280" cy="5130800"/>
          </a:xfrm>
          <a:prstGeom prst="roundRect">
            <a:avLst>
              <a:gd name="adj" fmla="val 3000"/>
            </a:avLst>
          </a:prstGeom>
          <a:solidFill>
            <a:srgbClr val="E0EBE0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E718C2-BEA9-D792-6048-579971A0B429}"/>
              </a:ext>
            </a:extLst>
          </p:cNvPr>
          <p:cNvSpPr/>
          <p:nvPr/>
        </p:nvSpPr>
        <p:spPr>
          <a:xfrm>
            <a:off x="1915160" y="228600"/>
            <a:ext cx="8361680" cy="528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B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669F09-E066-48DB-D3D6-C70E37AC025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60" y="304800"/>
            <a:ext cx="820928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8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3990"/>
    </mc:Choice>
    <mc:Fallback>
      <p:transition advClick="0" advTm="1399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C63CFA-3441-A8FC-F48E-1D70776708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B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EFF48E-B45D-A607-2825-323784EF870B}"/>
              </a:ext>
            </a:extLst>
          </p:cNvPr>
          <p:cNvSpPr/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FE54C2-6607-544A-7D13-71C867B251A9}"/>
              </a:ext>
            </a:extLst>
          </p:cNvPr>
          <p:cNvSpPr/>
          <p:nvPr/>
        </p:nvSpPr>
        <p:spPr>
          <a:xfrm>
            <a:off x="0" y="5638800"/>
            <a:ext cx="12192000" cy="12700"/>
          </a:xfrm>
          <a:prstGeom prst="rect">
            <a:avLst/>
          </a:prstGeom>
          <a:solidFill>
            <a:srgbClr val="E8EC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5801C0-CA6C-E57E-392B-236E0C18AD4B}"/>
              </a:ext>
            </a:extLst>
          </p:cNvPr>
          <p:cNvSpPr/>
          <p:nvPr/>
        </p:nvSpPr>
        <p:spPr>
          <a:xfrm>
            <a:off x="457200" y="5918200"/>
            <a:ext cx="38100" cy="6604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CC17B-0C8D-0941-DA0D-DA665C00D20F}"/>
              </a:ext>
            </a:extLst>
          </p:cNvPr>
          <p:cNvSpPr txBox="1"/>
          <p:nvPr/>
        </p:nvSpPr>
        <p:spPr>
          <a:xfrm>
            <a:off x="635000" y="58928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B5E20"/>
                </a:solidFill>
                <a:latin typeface="Segoe UI" panose="020B0502040204020203" pitchFamily="34" charset="0"/>
              </a:rPr>
              <a:t>FULFILLMENT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93CC0-8875-DB58-0EA3-58C75D5FCDC3}"/>
              </a:ext>
            </a:extLst>
          </p:cNvPr>
          <p:cNvSpPr txBox="1"/>
          <p:nvPr/>
        </p:nvSpPr>
        <p:spPr>
          <a:xfrm>
            <a:off x="635000" y="6096000"/>
            <a:ext cx="736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1A1F1A"/>
                </a:solidFill>
                <a:latin typeface="Segoe UI" panose="020B0502040204020203" pitchFamily="34" charset="0"/>
              </a:rPr>
              <a:t>Input demand, procurement, stock, collections, settlements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3DF91-C1E0-704A-D9A6-9FE3A226BA9B}"/>
              </a:ext>
            </a:extLst>
          </p:cNvPr>
          <p:cNvSpPr txBox="1"/>
          <p:nvPr/>
        </p:nvSpPr>
        <p:spPr>
          <a:xfrm>
            <a:off x="635000" y="6451600"/>
            <a:ext cx="1117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4A524A"/>
                </a:solidFill>
                <a:latin typeface="Segoe UI" panose="020B0502040204020203" pitchFamily="34" charset="0"/>
              </a:rPr>
              <a:t>Operations is where the system turns demand capture into procurement, inventory movement, produce intake, and downstream cash flow.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8F9F09-7883-A986-ECE0-D482AF4F1B7A}"/>
              </a:ext>
            </a:extLst>
          </p:cNvPr>
          <p:cNvSpPr/>
          <p:nvPr/>
        </p:nvSpPr>
        <p:spPr>
          <a:xfrm>
            <a:off x="2042160" y="381000"/>
            <a:ext cx="8209280" cy="5130800"/>
          </a:xfrm>
          <a:prstGeom prst="roundRect">
            <a:avLst>
              <a:gd name="adj" fmla="val 3000"/>
            </a:avLst>
          </a:prstGeom>
          <a:solidFill>
            <a:srgbClr val="E0EBE0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7BAE0B-1416-62E6-DEB1-3DB5AA4E1189}"/>
              </a:ext>
            </a:extLst>
          </p:cNvPr>
          <p:cNvSpPr/>
          <p:nvPr/>
        </p:nvSpPr>
        <p:spPr>
          <a:xfrm>
            <a:off x="1915160" y="228600"/>
            <a:ext cx="8361680" cy="528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B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F55331-47A4-1542-CE84-5BEA8F0B05C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60" y="304800"/>
            <a:ext cx="820928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848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3850"/>
    </mc:Choice>
    <mc:Fallback>
      <p:transition advClick="0" advTm="1385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268532-8DB3-EFF3-61F6-EAB0431100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B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62072-7D8A-ACC6-DCB7-D7DF60A2940D}"/>
              </a:ext>
            </a:extLst>
          </p:cNvPr>
          <p:cNvSpPr/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5F7508-8BC2-C36D-678C-2B178080F36D}"/>
              </a:ext>
            </a:extLst>
          </p:cNvPr>
          <p:cNvSpPr/>
          <p:nvPr/>
        </p:nvSpPr>
        <p:spPr>
          <a:xfrm>
            <a:off x="0" y="5638800"/>
            <a:ext cx="12192000" cy="12700"/>
          </a:xfrm>
          <a:prstGeom prst="rect">
            <a:avLst/>
          </a:prstGeom>
          <a:solidFill>
            <a:srgbClr val="E8EC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2097FC-67BA-D708-36B3-0C5FA635512E}"/>
              </a:ext>
            </a:extLst>
          </p:cNvPr>
          <p:cNvSpPr/>
          <p:nvPr/>
        </p:nvSpPr>
        <p:spPr>
          <a:xfrm>
            <a:off x="457200" y="5918200"/>
            <a:ext cx="38100" cy="6604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B219C-6498-F053-7D39-DA7FB94C2222}"/>
              </a:ext>
            </a:extLst>
          </p:cNvPr>
          <p:cNvSpPr txBox="1"/>
          <p:nvPr/>
        </p:nvSpPr>
        <p:spPr>
          <a:xfrm>
            <a:off x="635000" y="58928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B5E20"/>
                </a:solidFill>
                <a:latin typeface="Segoe UI" panose="020B0502040204020203" pitchFamily="34" charset="0"/>
              </a:rPr>
              <a:t>MARKET EXECUTION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F11B4-E109-77D0-C7BE-51154A7BF5A0}"/>
              </a:ext>
            </a:extLst>
          </p:cNvPr>
          <p:cNvSpPr txBox="1"/>
          <p:nvPr/>
        </p:nvSpPr>
        <p:spPr>
          <a:xfrm>
            <a:off x="635000" y="6096000"/>
            <a:ext cx="736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1A1F1A"/>
                </a:solidFill>
                <a:latin typeface="Segoe UI" panose="020B0502040204020203" pitchFamily="34" charset="0"/>
              </a:rPr>
              <a:t>Collections matched to buyer demand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8445FA-089A-BBC2-F037-1BFCEDE38C96}"/>
              </a:ext>
            </a:extLst>
          </p:cNvPr>
          <p:cNvSpPr txBox="1"/>
          <p:nvPr/>
        </p:nvSpPr>
        <p:spPr>
          <a:xfrm>
            <a:off x="635000" y="6451600"/>
            <a:ext cx="1117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4A524A"/>
                </a:solidFill>
                <a:latin typeface="Segoe UI" panose="020B0502040204020203" pitchFamily="34" charset="0"/>
              </a:rPr>
              <a:t>The market layer surfaces the best current fit, converts it into sales orders, and keeps dispatch follow-through visible until money is collected.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5E1306-C105-4311-7F83-D26C9A7F99C4}"/>
              </a:ext>
            </a:extLst>
          </p:cNvPr>
          <p:cNvSpPr/>
          <p:nvPr/>
        </p:nvSpPr>
        <p:spPr>
          <a:xfrm>
            <a:off x="2042160" y="381000"/>
            <a:ext cx="8209280" cy="5130800"/>
          </a:xfrm>
          <a:prstGeom prst="roundRect">
            <a:avLst>
              <a:gd name="adj" fmla="val 3000"/>
            </a:avLst>
          </a:prstGeom>
          <a:solidFill>
            <a:srgbClr val="E0EBE0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188EA2-C365-D5F9-B55A-199F325622BB}"/>
              </a:ext>
            </a:extLst>
          </p:cNvPr>
          <p:cNvSpPr/>
          <p:nvPr/>
        </p:nvSpPr>
        <p:spPr>
          <a:xfrm>
            <a:off x="1915160" y="228600"/>
            <a:ext cx="8361680" cy="528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B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CA5BF3-46F0-ADE4-47ED-ADF288E134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60" y="304800"/>
            <a:ext cx="820928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111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1830"/>
    </mc:Choice>
    <mc:Fallback>
      <p:transition advClick="0" advTm="1183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66F33C-396C-F13E-102F-17D3C04E9A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B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D465B0-21F5-2918-4BD6-FBD2EEF4C363}"/>
              </a:ext>
            </a:extLst>
          </p:cNvPr>
          <p:cNvSpPr/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A290A2-030F-7E82-1865-A69BA7C7AB0B}"/>
              </a:ext>
            </a:extLst>
          </p:cNvPr>
          <p:cNvSpPr/>
          <p:nvPr/>
        </p:nvSpPr>
        <p:spPr>
          <a:xfrm>
            <a:off x="0" y="5638800"/>
            <a:ext cx="12192000" cy="12700"/>
          </a:xfrm>
          <a:prstGeom prst="rect">
            <a:avLst/>
          </a:prstGeom>
          <a:solidFill>
            <a:srgbClr val="E8EC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C84F4B-8FF8-B3C3-57F3-7BB3E62B258B}"/>
              </a:ext>
            </a:extLst>
          </p:cNvPr>
          <p:cNvSpPr/>
          <p:nvPr/>
        </p:nvSpPr>
        <p:spPr>
          <a:xfrm>
            <a:off x="457200" y="5918200"/>
            <a:ext cx="38100" cy="6604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DB18EF-6540-ECCA-5815-8DA79AEF3B6D}"/>
              </a:ext>
            </a:extLst>
          </p:cNvPr>
          <p:cNvSpPr txBox="1"/>
          <p:nvPr/>
        </p:nvSpPr>
        <p:spPr>
          <a:xfrm>
            <a:off x="635000" y="58928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B5E20"/>
                </a:solidFill>
                <a:latin typeface="Segoe UI" panose="020B0502040204020203" pitchFamily="34" charset="0"/>
              </a:rPr>
              <a:t>HUMAN HANDOFF DESK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FCC41C-207A-365F-1402-7DDF495E8BC3}"/>
              </a:ext>
            </a:extLst>
          </p:cNvPr>
          <p:cNvSpPr txBox="1"/>
          <p:nvPr/>
        </p:nvSpPr>
        <p:spPr>
          <a:xfrm>
            <a:off x="635000" y="6096000"/>
            <a:ext cx="736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1A1F1A"/>
                </a:solidFill>
                <a:latin typeface="Segoe UI" panose="020B0502040204020203" pitchFamily="34" charset="0"/>
              </a:rPr>
              <a:t>Low-confidence work lands in one review queue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77EB93-ECB5-BD2E-327D-E447CA35883A}"/>
              </a:ext>
            </a:extLst>
          </p:cNvPr>
          <p:cNvSpPr txBox="1"/>
          <p:nvPr/>
        </p:nvSpPr>
        <p:spPr>
          <a:xfrm>
            <a:off x="635000" y="6451600"/>
            <a:ext cx="1117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4A524A"/>
                </a:solidFill>
                <a:latin typeface="Segoe UI" panose="020B0502040204020203" pitchFamily="34" charset="0"/>
              </a:rPr>
              <a:t>The handoff desk concentrates escalations, while the floating farmer phone shows the conversation thread that triggered the next action.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A28FF8-703C-5093-5FBA-52D776878374}"/>
              </a:ext>
            </a:extLst>
          </p:cNvPr>
          <p:cNvSpPr/>
          <p:nvPr/>
        </p:nvSpPr>
        <p:spPr>
          <a:xfrm>
            <a:off x="2042160" y="381000"/>
            <a:ext cx="8209280" cy="5130800"/>
          </a:xfrm>
          <a:prstGeom prst="roundRect">
            <a:avLst>
              <a:gd name="adj" fmla="val 3000"/>
            </a:avLst>
          </a:prstGeom>
          <a:solidFill>
            <a:srgbClr val="E0EBE0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B4D81C-D001-A904-8AE3-22AAA49324E2}"/>
              </a:ext>
            </a:extLst>
          </p:cNvPr>
          <p:cNvSpPr/>
          <p:nvPr/>
        </p:nvSpPr>
        <p:spPr>
          <a:xfrm>
            <a:off x="1915160" y="228600"/>
            <a:ext cx="8361680" cy="528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B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D76E86-7EBB-61C8-354B-0D18B3978B6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60" y="304800"/>
            <a:ext cx="820928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184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2050"/>
    </mc:Choice>
    <mc:Fallback>
      <p:transition advClick="0" advTm="1205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E7037B-5BDF-3CEE-E5C7-5FF5F889CE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B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468704-A936-2D99-C623-1E482BC9829D}"/>
              </a:ext>
            </a:extLst>
          </p:cNvPr>
          <p:cNvSpPr/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A1E085-7E1E-F38D-E9CD-70EB9C149F34}"/>
              </a:ext>
            </a:extLst>
          </p:cNvPr>
          <p:cNvSpPr/>
          <p:nvPr/>
        </p:nvSpPr>
        <p:spPr>
          <a:xfrm>
            <a:off x="0" y="5638800"/>
            <a:ext cx="12192000" cy="12700"/>
          </a:xfrm>
          <a:prstGeom prst="rect">
            <a:avLst/>
          </a:prstGeom>
          <a:solidFill>
            <a:srgbClr val="E8EC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E3FC1C-A736-8339-623A-047E06130088}"/>
              </a:ext>
            </a:extLst>
          </p:cNvPr>
          <p:cNvSpPr/>
          <p:nvPr/>
        </p:nvSpPr>
        <p:spPr>
          <a:xfrm>
            <a:off x="457200" y="5918200"/>
            <a:ext cx="38100" cy="6604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90311-E73A-074B-A7E6-F35FB9F5438F}"/>
              </a:ext>
            </a:extLst>
          </p:cNvPr>
          <p:cNvSpPr txBox="1"/>
          <p:nvPr/>
        </p:nvSpPr>
        <p:spPr>
          <a:xfrm>
            <a:off x="635000" y="58928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B5E20"/>
                </a:solidFill>
                <a:latin typeface="Segoe UI" panose="020B0502040204020203" pitchFamily="34" charset="0"/>
              </a:rPr>
              <a:t>CAMPAIGNS AND OUTREACH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C1DCE-2E06-61E4-B901-F1D4AC2FAAC4}"/>
              </a:ext>
            </a:extLst>
          </p:cNvPr>
          <p:cNvSpPr txBox="1"/>
          <p:nvPr/>
        </p:nvSpPr>
        <p:spPr>
          <a:xfrm>
            <a:off x="635000" y="6096000"/>
            <a:ext cx="736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1A1F1A"/>
                </a:solidFill>
                <a:latin typeface="Segoe UI" panose="020B0502040204020203" pitchFamily="34" charset="0"/>
              </a:rPr>
              <a:t>Inbox, advisories, and broadcast in one place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203D80-EC91-45B6-7E87-A38A1EB1C5CB}"/>
              </a:ext>
            </a:extLst>
          </p:cNvPr>
          <p:cNvSpPr txBox="1"/>
          <p:nvPr/>
        </p:nvSpPr>
        <p:spPr>
          <a:xfrm>
            <a:off x="635000" y="6451600"/>
            <a:ext cx="1117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4A524A"/>
                </a:solidFill>
                <a:latin typeface="Segoe UI" panose="020B0502040204020203" pitchFamily="34" charset="0"/>
              </a:rPr>
              <a:t>The same platform handles inbound asks, outbound nudges, and campaign communication without moving teams into separate tools.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FE36AD-8732-CFE7-0860-0DAF160A3888}"/>
              </a:ext>
            </a:extLst>
          </p:cNvPr>
          <p:cNvSpPr/>
          <p:nvPr/>
        </p:nvSpPr>
        <p:spPr>
          <a:xfrm>
            <a:off x="2042160" y="381000"/>
            <a:ext cx="8209280" cy="5130800"/>
          </a:xfrm>
          <a:prstGeom prst="roundRect">
            <a:avLst>
              <a:gd name="adj" fmla="val 3000"/>
            </a:avLst>
          </a:prstGeom>
          <a:solidFill>
            <a:srgbClr val="E0EBE0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7F2511-0662-B911-CE39-A7D86B16638A}"/>
              </a:ext>
            </a:extLst>
          </p:cNvPr>
          <p:cNvSpPr/>
          <p:nvPr/>
        </p:nvSpPr>
        <p:spPr>
          <a:xfrm>
            <a:off x="1915160" y="228600"/>
            <a:ext cx="8361680" cy="528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B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7CE040-759A-3DC7-52E0-E8F610952D8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60" y="304800"/>
            <a:ext cx="820928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04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3590"/>
    </mc:Choice>
    <mc:Fallback>
      <p:transition advClick="0" advTm="1359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658598-5E2A-081A-B93E-758CBBD8DA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B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09A2C7-EF39-9CA8-2ED3-8E614C8E31F5}"/>
              </a:ext>
            </a:extLst>
          </p:cNvPr>
          <p:cNvSpPr/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C1D8CE-8AA9-30FB-209E-B8F7D299E602}"/>
              </a:ext>
            </a:extLst>
          </p:cNvPr>
          <p:cNvSpPr/>
          <p:nvPr/>
        </p:nvSpPr>
        <p:spPr>
          <a:xfrm>
            <a:off x="0" y="5638800"/>
            <a:ext cx="12192000" cy="12700"/>
          </a:xfrm>
          <a:prstGeom prst="rect">
            <a:avLst/>
          </a:prstGeom>
          <a:solidFill>
            <a:srgbClr val="E8EC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5CE46F-F7D9-316B-217A-E9BDD13483E5}"/>
              </a:ext>
            </a:extLst>
          </p:cNvPr>
          <p:cNvSpPr/>
          <p:nvPr/>
        </p:nvSpPr>
        <p:spPr>
          <a:xfrm>
            <a:off x="457200" y="5918200"/>
            <a:ext cx="38100" cy="6604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E72FC-2DF8-3C67-715E-C40368C83727}"/>
              </a:ext>
            </a:extLst>
          </p:cNvPr>
          <p:cNvSpPr txBox="1"/>
          <p:nvPr/>
        </p:nvSpPr>
        <p:spPr>
          <a:xfrm>
            <a:off x="635000" y="58928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B5E20"/>
                </a:solidFill>
                <a:latin typeface="Segoe UI" panose="020B0502040204020203" pitchFamily="34" charset="0"/>
              </a:rPr>
              <a:t>APPROVALS AND AUDIT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3A507A-7E28-5980-3FD7-C2068F924903}"/>
              </a:ext>
            </a:extLst>
          </p:cNvPr>
          <p:cNvSpPr txBox="1"/>
          <p:nvPr/>
        </p:nvSpPr>
        <p:spPr>
          <a:xfrm>
            <a:off x="635000" y="6096000"/>
            <a:ext cx="736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1A1F1A"/>
                </a:solidFill>
                <a:latin typeface="Segoe UI" panose="020B0502040204020203" pitchFamily="34" charset="0"/>
              </a:rPr>
              <a:t>Governed autonomy keeps the operating model safe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D686E4-69A4-0AC3-247A-643B5A61970E}"/>
              </a:ext>
            </a:extLst>
          </p:cNvPr>
          <p:cNvSpPr txBox="1"/>
          <p:nvPr/>
        </p:nvSpPr>
        <p:spPr>
          <a:xfrm>
            <a:off x="635000" y="6451600"/>
            <a:ext cx="1117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4A524A"/>
                </a:solidFill>
                <a:latin typeface="Segoe UI" panose="020B0502040204020203" pitchFamily="34" charset="0"/>
              </a:rPr>
              <a:t>Thresholds route purchase requests and other sensitive actions into a single approval desk, with a clear audit trail behind every agent and human decision.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3743E1-28DD-5F73-A5A4-F45701D52E72}"/>
              </a:ext>
            </a:extLst>
          </p:cNvPr>
          <p:cNvSpPr/>
          <p:nvPr/>
        </p:nvSpPr>
        <p:spPr>
          <a:xfrm>
            <a:off x="2042160" y="381000"/>
            <a:ext cx="8209280" cy="5130800"/>
          </a:xfrm>
          <a:prstGeom prst="roundRect">
            <a:avLst>
              <a:gd name="adj" fmla="val 3000"/>
            </a:avLst>
          </a:prstGeom>
          <a:solidFill>
            <a:srgbClr val="E0EBE0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1C6A1B-4548-5F81-976C-4620F3E4AE4C}"/>
              </a:ext>
            </a:extLst>
          </p:cNvPr>
          <p:cNvSpPr/>
          <p:nvPr/>
        </p:nvSpPr>
        <p:spPr>
          <a:xfrm>
            <a:off x="1915160" y="228600"/>
            <a:ext cx="8361680" cy="528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B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4C99B6-EB8C-E92F-4A4E-AD2FE084CE3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60" y="304800"/>
            <a:ext cx="820928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881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3030"/>
    </mc:Choice>
    <mc:Fallback>
      <p:transition advClick="0" advTm="1303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F019A9-293B-581C-90AE-62F08BB136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B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F114F-C33C-DA24-41FB-A8C1A4EBD5AE}"/>
              </a:ext>
            </a:extLst>
          </p:cNvPr>
          <p:cNvSpPr/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37258F-2731-835B-DDB9-6FD3CD0D029A}"/>
              </a:ext>
            </a:extLst>
          </p:cNvPr>
          <p:cNvSpPr/>
          <p:nvPr/>
        </p:nvSpPr>
        <p:spPr>
          <a:xfrm>
            <a:off x="0" y="5638800"/>
            <a:ext cx="12192000" cy="12700"/>
          </a:xfrm>
          <a:prstGeom prst="rect">
            <a:avLst/>
          </a:prstGeom>
          <a:solidFill>
            <a:srgbClr val="E8EC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DE1AE0-5F86-9B9B-B28D-F305E4848DC0}"/>
              </a:ext>
            </a:extLst>
          </p:cNvPr>
          <p:cNvSpPr/>
          <p:nvPr/>
        </p:nvSpPr>
        <p:spPr>
          <a:xfrm>
            <a:off x="457200" y="5918200"/>
            <a:ext cx="38100" cy="6604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978043-87C3-DD3B-E7A1-595C0835D20B}"/>
              </a:ext>
            </a:extLst>
          </p:cNvPr>
          <p:cNvSpPr txBox="1"/>
          <p:nvPr/>
        </p:nvSpPr>
        <p:spPr>
          <a:xfrm>
            <a:off x="635000" y="58928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B5E20"/>
                </a:solidFill>
                <a:latin typeface="Segoe UI" panose="020B0502040204020203" pitchFamily="34" charset="0"/>
              </a:rPr>
              <a:t>CARBON READINESS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F178A-F983-3090-D8D0-F6A509D54D8C}"/>
              </a:ext>
            </a:extLst>
          </p:cNvPr>
          <p:cNvSpPr txBox="1"/>
          <p:nvPr/>
        </p:nvSpPr>
        <p:spPr>
          <a:xfrm>
            <a:off x="635000" y="6096000"/>
            <a:ext cx="736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1A1F1A"/>
                </a:solidFill>
                <a:latin typeface="Segoe UI" panose="020B0502040204020203" pitchFamily="34" charset="0"/>
              </a:rPr>
              <a:t>The same data spine extends into climate workflows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0D6AD-9715-12BC-6DBF-8296EA9680B8}"/>
              </a:ext>
            </a:extLst>
          </p:cNvPr>
          <p:cNvSpPr txBox="1"/>
          <p:nvPr/>
        </p:nvSpPr>
        <p:spPr>
          <a:xfrm>
            <a:off x="635000" y="6451600"/>
            <a:ext cx="1117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4A524A"/>
                </a:solidFill>
                <a:latin typeface="Segoe UI" panose="020B0502040204020203" pitchFamily="34" charset="0"/>
              </a:rPr>
              <a:t>Registry, plot, and practice data make it possible to layer carbon readiness on top of the core operating system over time.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574F37-97E0-FAB2-CCE6-BDFA051FC9EC}"/>
              </a:ext>
            </a:extLst>
          </p:cNvPr>
          <p:cNvSpPr/>
          <p:nvPr/>
        </p:nvSpPr>
        <p:spPr>
          <a:xfrm>
            <a:off x="2042160" y="381000"/>
            <a:ext cx="8209280" cy="5130800"/>
          </a:xfrm>
          <a:prstGeom prst="roundRect">
            <a:avLst>
              <a:gd name="adj" fmla="val 3000"/>
            </a:avLst>
          </a:prstGeom>
          <a:solidFill>
            <a:srgbClr val="E0EBE0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7D782C-7AFA-61C6-0469-C6F37B11DF8D}"/>
              </a:ext>
            </a:extLst>
          </p:cNvPr>
          <p:cNvSpPr/>
          <p:nvPr/>
        </p:nvSpPr>
        <p:spPr>
          <a:xfrm>
            <a:off x="1915160" y="228600"/>
            <a:ext cx="8361680" cy="528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B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8129-82A2-039F-220C-8DCBB2AA07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60" y="304800"/>
            <a:ext cx="820928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887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2340"/>
    </mc:Choice>
    <mc:Fallback>
      <p:transition advClick="0" advTm="1234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B3BDA8-4397-6DE4-0BCE-40017D928F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B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1012873-CCED-4489-98B2-33B1A8D83612}"/>
              </a:ext>
            </a:extLst>
          </p:cNvPr>
          <p:cNvSpPr/>
          <p:nvPr/>
        </p:nvSpPr>
        <p:spPr>
          <a:xfrm>
            <a:off x="-762000" y="-508000"/>
            <a:ext cx="3556000" cy="3556000"/>
          </a:xfrm>
          <a:prstGeom prst="ellipse">
            <a:avLst/>
          </a:prstGeom>
          <a:solidFill>
            <a:srgbClr val="81C784">
              <a:alpha val="14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59B3E7-B36A-4558-EECD-049EAB22EB7A}"/>
              </a:ext>
            </a:extLst>
          </p:cNvPr>
          <p:cNvSpPr/>
          <p:nvPr/>
        </p:nvSpPr>
        <p:spPr>
          <a:xfrm>
            <a:off x="9144000" y="4064000"/>
            <a:ext cx="4064000" cy="4064000"/>
          </a:xfrm>
          <a:prstGeom prst="ellipse">
            <a:avLst/>
          </a:prstGeom>
          <a:solidFill>
            <a:srgbClr val="A8DCA8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A1E233-2D59-57EB-FA14-6A70A824EF6F}"/>
              </a:ext>
            </a:extLst>
          </p:cNvPr>
          <p:cNvSpPr/>
          <p:nvPr/>
        </p:nvSpPr>
        <p:spPr>
          <a:xfrm>
            <a:off x="9906000" y="508000"/>
            <a:ext cx="1778000" cy="1778000"/>
          </a:xfrm>
          <a:prstGeom prst="ellipse">
            <a:avLst/>
          </a:prstGeom>
          <a:solidFill>
            <a:srgbClr val="E6F4EA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83EA2B-2D27-0CD2-0F12-9E3220ECA20A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98DF3B-3CB8-5B63-3A6E-B115354F1B56}"/>
              </a:ext>
            </a:extLst>
          </p:cNvPr>
          <p:cNvSpPr/>
          <p:nvPr/>
        </p:nvSpPr>
        <p:spPr>
          <a:xfrm>
            <a:off x="0" y="558800"/>
            <a:ext cx="12192000" cy="12700"/>
          </a:xfrm>
          <a:prstGeom prst="rect">
            <a:avLst/>
          </a:prstGeom>
          <a:solidFill>
            <a:srgbClr val="E8EC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593B4E-F950-EBDF-B529-D4D2764BF513}"/>
              </a:ext>
            </a:extLst>
          </p:cNvPr>
          <p:cNvSpPr/>
          <p:nvPr/>
        </p:nvSpPr>
        <p:spPr>
          <a:xfrm>
            <a:off x="355600" y="203200"/>
            <a:ext cx="152400" cy="1524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3C8B74-CBE2-8E2C-7A9A-1EAAED786963}"/>
              </a:ext>
            </a:extLst>
          </p:cNvPr>
          <p:cNvSpPr txBox="1"/>
          <p:nvPr/>
        </p:nvSpPr>
        <p:spPr>
          <a:xfrm>
            <a:off x="609600" y="177800"/>
            <a:ext cx="279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1A1F1A"/>
                </a:solidFill>
                <a:latin typeface="Segoe UI" panose="020B0502040204020203" pitchFamily="34" charset="0"/>
              </a:rPr>
              <a:t>FPO Integrated 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9ADC75-F3BB-ECCF-7973-CC0A99E8E750}"/>
              </a:ext>
            </a:extLst>
          </p:cNvPr>
          <p:cNvSpPr txBox="1"/>
          <p:nvPr/>
        </p:nvSpPr>
        <p:spPr>
          <a:xfrm>
            <a:off x="2133600" y="203200"/>
            <a:ext cx="3048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8A928A"/>
                </a:solidFill>
                <a:latin typeface="Segoe UI" panose="020B0502040204020203" pitchFamily="34" charset="0"/>
              </a:rPr>
              <a:t>POWERED BY FINDABILITY SCIENCES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792A08-1928-7009-3AE6-CE78270C0282}"/>
              </a:ext>
            </a:extLst>
          </p:cNvPr>
          <p:cNvSpPr/>
          <p:nvPr/>
        </p:nvSpPr>
        <p:spPr>
          <a:xfrm>
            <a:off x="1524000" y="1397000"/>
            <a:ext cx="9144000" cy="431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0EB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650681-4AB4-8AA9-EEAF-5CB25A178BF5}"/>
              </a:ext>
            </a:extLst>
          </p:cNvPr>
          <p:cNvSpPr/>
          <p:nvPr/>
        </p:nvSpPr>
        <p:spPr>
          <a:xfrm>
            <a:off x="2133600" y="19558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12700">
            <a:solidFill>
              <a:srgbClr val="A8DC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88B52CD-7E42-437F-1EE1-ED04AC57561E}"/>
              </a:ext>
            </a:extLst>
          </p:cNvPr>
          <p:cNvSpPr/>
          <p:nvPr/>
        </p:nvSpPr>
        <p:spPr>
          <a:xfrm>
            <a:off x="2286000" y="2070100"/>
            <a:ext cx="101600" cy="1016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EF800-8C4A-E9D4-8674-4460502FD2B0}"/>
              </a:ext>
            </a:extLst>
          </p:cNvPr>
          <p:cNvSpPr txBox="1"/>
          <p:nvPr/>
        </p:nvSpPr>
        <p:spPr>
          <a:xfrm>
            <a:off x="2463800" y="2051651"/>
            <a:ext cx="215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1B5E20"/>
                </a:solidFill>
                <a:latin typeface="Segoe UI" panose="020B0502040204020203" pitchFamily="34" charset="0"/>
              </a:rPr>
              <a:t>CLOSING NOTE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5EA40-2409-AFA3-8F10-3F9F889008DD}"/>
              </a:ext>
            </a:extLst>
          </p:cNvPr>
          <p:cNvSpPr txBox="1"/>
          <p:nvPr/>
        </p:nvSpPr>
        <p:spPr>
          <a:xfrm>
            <a:off x="2133600" y="2514600"/>
            <a:ext cx="79248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000" b="1">
                <a:solidFill>
                  <a:srgbClr val="1A1F1A"/>
                </a:solidFill>
                <a:latin typeface="Segoe UI" panose="020B0502040204020203" pitchFamily="34" charset="0"/>
              </a:rPr>
              <a:t>Autonomous by default. Human only by exception.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F47B39-0A25-2DD9-6218-1772F3712EF1}"/>
              </a:ext>
            </a:extLst>
          </p:cNvPr>
          <p:cNvSpPr txBox="1"/>
          <p:nvPr/>
        </p:nvSpPr>
        <p:spPr>
          <a:xfrm>
            <a:off x="2133600" y="3530600"/>
            <a:ext cx="79248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4A524A"/>
                </a:solidFill>
                <a:latin typeface="Segoe UI" panose="020B0502040204020203" pitchFamily="34" charset="0"/>
              </a:rPr>
              <a:t>One operating system instead of many disconnected workflows.</a:t>
            </a:r>
          </a:p>
        </p:txBody>
      </p:sp>
    </p:spTree>
    <p:extLst>
      <p:ext uri="{BB962C8B-B14F-4D97-AF65-F5344CB8AC3E}">
        <p14:creationId xmlns:p14="http://schemas.microsoft.com/office/powerpoint/2010/main" val="2734515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8450"/>
    </mc:Choice>
    <mc:Fallback>
      <p:transition advClick="0" advTm="845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Patil</dc:creator>
  <cp:lastModifiedBy>Akash Patil</cp:lastModifiedBy>
  <cp:revision>3</cp:revision>
  <dcterms:created xsi:type="dcterms:W3CDTF">2026-04-26T06:37:25Z</dcterms:created>
  <dcterms:modified xsi:type="dcterms:W3CDTF">2026-04-26T07:33:43Z</dcterms:modified>
</cp:coreProperties>
</file>